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주제는 신경망을 더 잘 학습시키는 기술이다. 첫 번째로 매개변수 갱신 규칙, 즉 optimizer를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지난주에는 W ← W − α ∂L/∂W 로 MNIST를 학습했다. 이 갱신 규칙이 최선인지 묻는다. 두 가지 문제, 방향과 보폭을 오늘 내내 기준으로 삼는다.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다룰 다섯 가지 기법을 미리 한 장에 보여 준다. g는 현재 gradient, ⊙와 √와 나눗셈은 모두 성분별이다. 마지막에 이 표로 다시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매개변수가 두 개뿐인 함수로 여러 기법을 눈으로 비교한다. 책과 같은 함수이다. 오른쪽 그림의 화살표가 −gradient 방향인데, 대부분 최솟값이 아니라 y축 쪽을 가리킨다는 점을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Descent와 Newton 시간에 본 길고 좁은 valley 이야기와 같다. Hessian이 diag(1/10, 2)이다.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update는 매개변수를 제자리에서 고친다. MNIST 루프의 for key in network.params: ... -= lr*grads[key] 두 줄을 optimizer.update(network.params, grads) 한 줄로 바꾸면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함수에는 데이터가 없어서 정확한 gradient를 쓰지만, 갱신 규칙은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Descent 시간의 수렴 조건 |1 − α f''| &lt; 1이 방향마다 따로 적용되는 것이다. f''가 x 방향 1/10, y 방향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그림을 앞 슬라이드의 두 비율로 설명한다. 학생들에게 각 경우의 y 비율을 먼저 물어보면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강의 전체의 지도 역할을 하는 슬라이드다.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책의 표기와 같은 형태를 썼다. v에 학습률이 이미 곱해져 있다는 점에 주의.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g₀ = (−0.7, 4), g₁ = (−0.693, 3.2). x 방향 속도가 0.07에서 0.1323으로 거의 두 배가 되었다. 속도가 쌓이는 모습이다.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SGD와 달리 상태 v를 가진다. 매개변수마다 하나씩, 매개변수와 같은 shape이다.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SGD에서는 x 방향 gradient가 y 방향의 1/20도 안 되어 x가 거의 움직이지 않았다. AdaGrad는 두 방향의 보폭을 비슷하게 맞춘다. Newton이 H 역행렬로 방향별 보폭을 조절했던 것과 비슷한 효과.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약점을 다음 슬라이드의 RMSProp으로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RMSProp 경로 끝에서 y가 흔들리는 것은 gradient를 크기로 나누어서 gradient가 작아져도 보폭이 대략 α로 유지되기 때문이다. 그래서 실제 학습에서는 학습률을 점점 줄이기도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Moment Estimation. 모멘텀의 m으로 방향을, RMSProp의 v로 매개변수별 보폭을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v도 같은 방식으로 1 − β₂ᵏ로 나누어 보정한다. 연습문제 4번에서 보정이 없을 때의 첫 걸음을 계산해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편향 보정을 위해 단계 수 k를 센다는 점이 다른 optimizer와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학습률은 각 기법이 잘 동작하도록 따로 정했다(책과 같은 값). 같은 학습률로 비교한 것이 아니라는 점을 말해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세로축이 로그 눈금이다. 모멘텀과 Adam은 최솟값을 지나쳤다 돌아오면서 f가 다시 커지는 구간이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흐름 슬라이드의 표로 돌아왔다. 이제 각 줄의 의미를 설명할 수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생각해 볼 질문: β를 0.5, 0.99로 바꾸면? 첫 단계에서 각 좌표가 α만큼 움직이는 것은 장점인가 단점인가? 곡률이 같은 함수 x²+y²에서는 차이가 어떻게 될까?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3번의 답은 (−4.573, 0.136)으로 비교 슬라이드의 표와 같다. 5번의 학습률은 SGD 0.1, 모멘텀 0.01과 β 0.9, AdaGrad 0.01, Adam 0.001.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3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8480"/>
            <a:ext cx="10566400" cy="415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3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8480"/>
            <a:ext cx="10566400" cy="415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463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 TO DEEP LEARNING AND PRACTICE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49190"/>
            <a:ext cx="10883392" cy="147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</a:t>
            </a:r>
            <a:endParaRPr lang="en-US" sz="52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 갱신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3560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 → Momentum → AdaGrad → RMSProp → Adam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999510"/>
            <a:ext cx="784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밑바닥부터 시작하는 딥러닝 6장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7545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주의 핵심 질문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03475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gradient 정보로</a:t>
            </a:r>
            <a:endParaRPr lang="en-US" sz="32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빠르고 안정적으로 최솟값을 찾을 수는 없을까?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3724275"/>
            <a:ext cx="5181600" cy="1062980"/>
          </a:xfrm>
          <a:prstGeom prst="roundRect">
            <a:avLst>
              <a:gd name="adj" fmla="val 9558"/>
            </a:avLst>
          </a:prstGeom>
          <a:solidFill>
            <a:srgbClr val="FBFBF8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952875"/>
            <a:ext cx="48138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방향의 문제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4272905"/>
            <a:ext cx="481380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−gradient가 늘 최솟값을 향하지는 않는다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3724275"/>
            <a:ext cx="5181600" cy="1062980"/>
          </a:xfrm>
          <a:prstGeom prst="roundRect">
            <a:avLst>
              <a:gd name="adj" fmla="val 9558"/>
            </a:avLst>
          </a:prstGeom>
          <a:solidFill>
            <a:srgbClr val="FBFBF8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3952875"/>
            <a:ext cx="48138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보폭의 문제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1600" y="4272905"/>
            <a:ext cx="481380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학습률 α 하나로 모든 매개변수를 같은 비율로 움직인다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흐름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963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달라지는 것은 오직 갱신 규칙뿐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01180"/>
          <a:ext cx="10553700" cy="2476500"/>
        </p:xfrm>
        <a:graphic>
          <a:graphicData uri="http://schemas.openxmlformats.org/drawingml/2006/table">
            <a:tbl>
              <a:tblPr/>
              <a:tblGrid>
                <a:gridCol w="2321814"/>
                <a:gridCol w="4538091"/>
                <a:gridCol w="3693795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갱신 규칙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개선한 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SGD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 ← W − α g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(기준)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Momentum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 ← βv − α g, W ← W + v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방향: 진동 상쇄, 가속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AdaGrad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 ← h + g⊙g, W ← W − α g/√h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보폭: 매개변수별 학습률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RMSProp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 ← ρh + (1−ρ) g⊙g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학습률이 0으로 줄지 않음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Adam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m, v의 지수이동평균 + 편향 보정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Momentum + RMSProp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함수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f(x, y) = x²/20 + y²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20598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∇f(x, y) = (x/10, 2y)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3778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최솟값: (0, 0)에서 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06958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시작점: 모든 기법에서 (−7, 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50138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방향은 완만, y 방향은 가파른 골짜기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19600" y="1736080"/>
            <a:ext cx="69596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9" name="Image 0" descr="f(x,y)=x^2/20+y^2의 3차원 그래프와 등고선, 음의 gradient 방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5092" y="1736080"/>
            <a:ext cx="6408615" cy="254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함수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963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방향의 곡률이 20배 차이 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94830"/>
            <a:ext cx="5168900" cy="1826220"/>
          </a:xfrm>
          <a:prstGeom prst="roundRect">
            <a:avLst>
              <a:gd name="adj" fmla="val 5216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10711" y="2155180"/>
            <a:ext cx="5857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방향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90997" y="2523480"/>
            <a:ext cx="362515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∂²f/∂x² = 1/10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7035" y="3194000"/>
            <a:ext cx="13130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아주 완만하다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3950" y="1894830"/>
            <a:ext cx="5168900" cy="1826220"/>
          </a:xfrm>
          <a:prstGeom prst="roundRect">
            <a:avLst>
              <a:gd name="adj" fmla="val 5216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92892" y="2155180"/>
            <a:ext cx="5909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방향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59834" y="2523480"/>
            <a:ext cx="285708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∂²f/∂y² = 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367752" y="3194000"/>
            <a:ext cx="8412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가파르다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981400"/>
            <a:ext cx="108833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대부분의 점에서 −∇f는 최솟값이 아니라 </a:t>
            </a:r>
            <a:r>
              <a:rPr lang="en-US" sz="17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골짜기의 벽(y축 방향)</a:t>
            </a:r>
            <a:r>
              <a:rPr lang="en-US" sz="17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가리킨다.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손실함수에서도 방향마다 곡률이 크게 다른 경우가 흔하다.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코드의 구조 · optimizers_2d.py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기법은 update(params, grads) 하나로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36080"/>
            <a:ext cx="10566400" cy="3278783"/>
          </a:xfrm>
          <a:prstGeom prst="roundRect">
            <a:avLst>
              <a:gd name="adj" fmla="val 3099"/>
            </a:avLst>
          </a:prstGeom>
          <a:solidFill>
            <a:srgbClr val="17233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grad_f(x, y):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x / 10.0, 2.0 * y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minimize(optimizer, start=(-7.0, 2.0), steps=30):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params = {"x": np.array(start[0]), "y": np.array(start[1])}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path = [(float(params["x"]), float(params["y"]))]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for _ in range(steps):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gx, gy = grad_f(params["x"], params["y"])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grads = {"x": gx, "y": gy}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optimizer.update(params, grads)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path.append((float(params["x"]), float(params["y"])))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np.array(path)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5192663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params, grads는 지난주 mnist_lab.py의 network.params, grads와 같은 형태 → MNIST 학습 루프에도 그대로 쓸 수 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확률적 경사하강법 (SGD)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지금까지 써 온 방법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9150" y="1793230"/>
            <a:ext cx="10553700" cy="88136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  <p:txBody>
          <a:bodyPr wrap="square" lIns="134281" tIns="181652" rIns="134281" bIns="156252" rtlCol="0" anchor="t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Wₖ₊₁ = Wₖ − α gₖ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88414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확률적</a:t>
            </a: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gₖ를 무작위로 고른 </a:t>
            </a: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미니배치</a:t>
            </a: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평균 손실로 계산하기 때문 (지난주)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392140"/>
            <a:ext cx="10566400" cy="2081957"/>
          </a:xfrm>
          <a:prstGeom prst="roundRect">
            <a:avLst>
              <a:gd name="adj" fmla="val 4880"/>
            </a:avLst>
          </a:prstGeom>
          <a:solidFill>
            <a:srgbClr val="17233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SGD: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__init__(self, lr=0.01):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self.lr = lr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update(self, params, grads):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for key in params: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params[key] -= self.lr * grads[key]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SGD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9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좌표마다 따로 보면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44030"/>
            <a:ext cx="5168900" cy="1222970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078980"/>
            <a:ext cx="478764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xₖ₊₁ = (1 − α/10) xₖ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2546300"/>
            <a:ext cx="47876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단계 x는 (1 − α/10)배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3950" y="1844030"/>
            <a:ext cx="5168900" cy="1222970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078980"/>
            <a:ext cx="478764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yₖ₊₁ = (1 − 2α) yₖ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64300" y="2546300"/>
            <a:ext cx="47876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단계 y는 (1 − 2α)배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758" y="3301950"/>
            <a:ext cx="10830814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y가 발산하지 않으려면 |1 − 2α| &lt; 1, 즉 </a:t>
            </a: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&lt; 1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 α &lt; 1이면 x의 비율은 1 − α/10 &gt; 0.9 → x는 한 단계에 10%도 줄지 않는다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가파른 방향 때문에 α를 키울 수 없고, 그 α로는 완만한 방향이 느리다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SGD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학습률에 따른 SGD의 경로 (30단계)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36080"/>
            <a:ext cx="10566400" cy="26162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/>
        </p:spPr>
      </p:sp>
      <p:pic>
        <p:nvPicPr>
          <p:cNvPr id="5" name="Image 0" descr="학습률 0.5, 0.95, 1.02일 때 SGD의 경로">    </p:cNvPr>
          <p:cNvPicPr>
            <a:picLocks noChangeAspect="1"/>
          </p:cNvPicPr>
          <p:nvPr/>
        </p:nvPicPr>
        <p:blipFill>
          <a:blip r:embed="rId1"/>
          <a:srcRect l="-96" r="-96" t="0" b="0"/>
          <a:stretch/>
        </p:blipFill>
        <p:spPr>
          <a:xfrm>
            <a:off x="812800" y="1736080"/>
            <a:ext cx="10566400" cy="2616200"/>
          </a:xfrm>
          <a:prstGeom prst="roundRect">
            <a:avLst>
              <a:gd name="adj" fmla="val 291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4530080"/>
            <a:ext cx="348823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= 0.5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4824710"/>
            <a:ext cx="348823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y는 한 번에 0, x는 0.95배씩 → 30단계 뒤 x ≈ −1.5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02634" y="4530080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= 0.95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02634" y="4824710"/>
            <a:ext cx="3488284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비율 −0.9 → 부호가 바뀌며 </a:t>
            </a: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지그재그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92517" y="4530080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= 1.02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92517" y="4824710"/>
            <a:ext cx="3488284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비율 |1 − 2.04| = 1.04 &gt; 1 → </a:t>
            </a: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4335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SGD의 약점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60265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이후의 기법들은 두 문제를 하나씩 고친다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779415"/>
            <a:ext cx="5168900" cy="1855440"/>
          </a:xfrm>
          <a:prstGeom prst="roundRect">
            <a:avLst>
              <a:gd name="adj" fmla="val 5134"/>
            </a:avLst>
          </a:prstGeom>
          <a:noFill/>
          <a:ln w="12700">
            <a:solidFill>
              <a:srgbClr val="4A5A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3039765"/>
            <a:ext cx="478764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방향의 문제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3415655"/>
            <a:ext cx="478764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방향이 언제나 현재의 −g → 곡률이 다르면 최솟값을 향하지 않는다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9500" y="4088755"/>
            <a:ext cx="47876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sz="15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Momentum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3950" y="2779415"/>
            <a:ext cx="5168900" cy="1855440"/>
          </a:xfrm>
          <a:prstGeom prst="roundRect">
            <a:avLst>
              <a:gd name="adj" fmla="val 5134"/>
            </a:avLst>
          </a:prstGeom>
          <a:noFill/>
          <a:ln w="12700">
            <a:solidFill>
              <a:srgbClr val="4A5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3039765"/>
            <a:ext cx="478764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보폭의 문제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300" y="3415655"/>
            <a:ext cx="478764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하나가 모든 방향의 보폭을 정한다 → 가파른 쪽에 맞추면 완만한 쪽이 느리다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300" y="4088755"/>
            <a:ext cx="47876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sz="15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AdaGrad, RMSProp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94600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둘을 합치면 → </a:t>
            </a:r>
            <a:r>
              <a:rPr lang="en-US" sz="16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모멘텀 (Momentum)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9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경사면에 공을 굴린다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768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공은 그 순간의 경사만 따라가지 않는다. 이미 가진 </a:t>
            </a: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있어서,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방향으로는 점점 빨라지고 자꾸 바뀌는 방향의 움직임은 상쇄된다.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682230"/>
            <a:ext cx="10553700" cy="1282650"/>
          </a:xfrm>
          <a:prstGeom prst="roundRect">
            <a:avLst>
              <a:gd name="adj" fmla="val 7426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329" y="2917180"/>
            <a:ext cx="1022934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vₖ₊₁ = β vₖ − α gₖ,    Wₖ₊₁ = Wₖ + vₖ₊₁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81329" y="3481040"/>
            <a:ext cx="102293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v₀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7758" y="4199830"/>
            <a:ext cx="10830814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v: 속도 (velocity)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β ∈ [0, 1), 보통 0.9: 이전 속도를 얼마나 유지할지 (마찰의 역할)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β = 0이면 SGD와 같다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모멘텀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속도는 과거 gradient의 가중 합이다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9150" y="1793230"/>
            <a:ext cx="10553700" cy="81022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  <p:txBody>
          <a:bodyPr wrap="square" lIns="134281" tIns="181652" rIns="134281" bIns="156252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vₖ₊₁ = −α ( gₖ + β gₖ₋₁ + β² gₖ₋₂ + ⋯ + βᵏ g₀ 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9150" y="2819350"/>
            <a:ext cx="5168900" cy="1310630"/>
          </a:xfrm>
          <a:prstGeom prst="roundRect">
            <a:avLst>
              <a:gd name="adj" fmla="val 7267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3028900"/>
            <a:ext cx="47876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부호가 매번 바뀌는 방향 (y)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348930"/>
            <a:ext cx="47876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더한 값이 </a:t>
            </a: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상쇄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진동이 줄어든다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3950" y="2819350"/>
            <a:ext cx="5168900" cy="1310630"/>
          </a:xfrm>
          <a:prstGeom prst="roundRect">
            <a:avLst>
              <a:gd name="adj" fmla="val 7267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3028900"/>
            <a:ext cx="47876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부호가 계속 같은 방향 (x)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300" y="3348930"/>
            <a:ext cx="478764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더한 값이 </a:t>
            </a: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점점 빨라진다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α/(1−β) = 10α (β=0.9)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339530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손계산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(α=0.1, β=0.9, 시작 (−7, 2)):  v₁ = (0.07, −0.4) → (−6.93, 1.6),  v₂ = (0.1323, −0.68) → (−6.7977, 0.92)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모멘텀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코드: 속도 v를 기억한다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86880"/>
            <a:ext cx="10566400" cy="3499644"/>
          </a:xfrm>
          <a:prstGeom prst="roundRect">
            <a:avLst>
              <a:gd name="adj" fmla="val 2903"/>
            </a:avLst>
          </a:prstGeom>
          <a:solidFill>
            <a:srgbClr val="17233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Momentum: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__init__(self, lr=0.01, beta=0.9):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self.lr = lr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self.beta = beta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self.v = None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update(self, params, grads):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if self.v is None:                          </a:t>
            </a:r>
            <a:r>
              <a:rPr lang="en-US" sz="1400" dirty="0">
                <a:solidFill>
                  <a:srgbClr val="8FA3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velocity starts at 0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self.v = {key: np.zeros_like(val) for key, val in params.items()}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for key in params: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4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self.v[key] = self.beta * self.v[key] - self.lr * grads[key]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4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params[key] += self.v[key]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AdaGrad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매개변수마다 학습률을 다르게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793230"/>
            <a:ext cx="10553700" cy="111755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329" y="2002780"/>
            <a:ext cx="10229342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hₖ₊₁ = hₖ + gₖ ⊙ gₖ,    Wₖ₊₁ = Wₖ − α gₖ / (√hₖ₊₁ + ε)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1329" y="2452340"/>
            <a:ext cx="102293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h: 지금까지의 gradient 제곱의 합 (성분별),  h₀ = 0,  ε ≈ 10⁻⁷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12033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 하나의 실제 학습률 = α / √(g₀² + g₁² + ⋯ + gₖ²) → gradient가 컸던 매개변수일수록 보폭이 작아진다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628330"/>
            <a:ext cx="10566400" cy="1297930"/>
          </a:xfrm>
          <a:prstGeom prst="roundRect">
            <a:avLst>
              <a:gd name="adj" fmla="val 7828"/>
            </a:avLst>
          </a:prstGeom>
          <a:solidFill>
            <a:srgbClr val="EAF0F7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831530"/>
            <a:ext cx="1036015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예제의 첫 단계: W₁ = W₀ − α g₀ / |g₀|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4151561"/>
            <a:ext cx="1036015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좌표가 gradient의 크기와 관계없이 </a:t>
            </a: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α만큼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움직인다.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= 1.5,  g₀ = (−0.7, 4) →  (x₁, y₁) = (−5.5, 0.5)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AdaGrad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코드와 약점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86880"/>
            <a:ext cx="10566400" cy="3278783"/>
          </a:xfrm>
          <a:prstGeom prst="roundRect">
            <a:avLst>
              <a:gd name="adj" fmla="val 3099"/>
            </a:avLst>
          </a:prstGeom>
          <a:solidFill>
            <a:srgbClr val="17233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AdaGrad: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__init__(self, lr=0.01, eps=1e-7):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self.lr = lr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self.eps = eps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self.h = None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update(self, params, grads):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if self.h is None: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self.h = {key: np.zeros_like(val) for key, val in params.items()}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for key in params: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self.h[key] += grads[key] * grads[key]</a:t>
            </a: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</a:t>
            </a:r>
            <a:r>
              <a:rPr lang="en-US" sz="1300" dirty="0">
                <a:solidFill>
                  <a:srgbClr val="8FA3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sum of squared gradients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params[key] -= self.lr * grads[key] / (np.sqrt(self.h[key]) + self.eps)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5268863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</a:t>
            </a: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h는 계속 더해지기만 한다 → 실제 학습률 α/√h가 계속 작아져 결국 거의 멈춘다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RMSProp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gradient는 서서히 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9150" y="1742430"/>
            <a:ext cx="10553700" cy="706090"/>
          </a:xfrm>
          <a:prstGeom prst="roundRect">
            <a:avLst>
              <a:gd name="adj" fmla="val 13490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  <p:txBody>
          <a:bodyPr wrap="square" lIns="134281" tIns="156252" rIns="134281" bIns="130852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hₖ₊₁ = ρ hₖ + (1 − ρ) gₖ ⊙ gₖ,   Wₖ₊₁ = Wₖ − α gₖ / (√hₖ₊₁ + ε)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2632670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지수이동평균 (ρ ≈ 0.9): h는 최근 gradient 제곱의 </a:t>
            </a: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정도로 유지 → 학습률이 0으로 줄지 않는다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3096220"/>
            <a:ext cx="10566400" cy="23495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pic>
        <p:nvPicPr>
          <p:cNvPr id="7" name="Image 0" descr="같은 학습률 0.5로 60단계: AdaGrad는 멈추고 RMSProp은 최솟값 근처까지 간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157" y="3096220"/>
            <a:ext cx="6927687" cy="2349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α = 0.5로 60단계: AdaGrad(왼쪽)는 점점 느려져 멈추고, RMSProp(오른쪽)은 최솟값 근처까지 간다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Adam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Momentum + RMSProp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793230"/>
            <a:ext cx="6388100" cy="2042120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002780"/>
            <a:ext cx="604342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mₖ = β₁ mₖ₋₁ + (1 − β₁) gₖ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37110"/>
            <a:ext cx="604342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vₖ = β₂ vₖ₋₁ + (1 − β₂) gₖ ⊙ gₖ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2871440"/>
            <a:ext cx="604342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m̂ₖ = mₖ / (1 − β₁ᵏ),   v̂ₖ = vₖ / (1 − β₂ᵏ)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3305770"/>
            <a:ext cx="604342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Wₖ = Wₖ₋₁ − α m̂ₖ / (√v̂ₖ + ε)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67600" y="1996728"/>
            <a:ext cx="40289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gradient의 평균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방향으로 갈까 (1차 moment)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67600" y="2676178"/>
            <a:ext cx="40289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gradient 제곱의 평균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 얼마나 큰가 (2차 moment)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67600" y="3355628"/>
            <a:ext cx="469392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m̂/√v̂</a:t>
            </a: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평균 방향을 크기로 나누어 보폭을 맞춘다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0449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 β₁ = 0.9,  β₂ = 0.999,  ε = 10⁻⁸,  m₀ = v₀ = 0  (gₖ는 Wₖ₋₁에서의 gradient)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Adam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9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 보정 (bias correction)은 왜 필요한가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768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m과 v를 0에서 시작하므로 초기에는 실제 평균보다 작게 치우친다.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377430"/>
            <a:ext cx="4762500" cy="143505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612380"/>
            <a:ext cx="436905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보정 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932410"/>
            <a:ext cx="436905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m₁ = (1 − 0.9) g₁ = 0.1 g₁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3328640"/>
            <a:ext cx="43690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gradient의 1/10밖에 안 된다</a:t>
            </a:r>
            <a:endParaRPr lang="en-US" sz="14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91200" y="2942530"/>
            <a:ext cx="609600" cy="30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10350" y="2377430"/>
            <a:ext cx="4762500" cy="143505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70700" y="2612380"/>
            <a:ext cx="436905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5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보정 후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70700" y="2932410"/>
            <a:ext cx="436905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m̂₁ = 0.1 g₁ / (1 − 0.9) = g₁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70700" y="3328640"/>
            <a:ext cx="43690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k가 커지면 βᵏ → 0, 보정 효과는 사라진다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4047430"/>
            <a:ext cx="10566400" cy="927100"/>
          </a:xfrm>
          <a:prstGeom prst="roundRect">
            <a:avLst>
              <a:gd name="adj" fmla="val 10959"/>
            </a:avLst>
          </a:prstGeom>
          <a:solidFill>
            <a:srgbClr val="EAF0F7"/>
          </a:solidFill>
          <a:ln/>
        </p:spPr>
        <p:txBody>
          <a:bodyPr wrap="square" lIns="224242" tIns="148042" rIns="0" bIns="1226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 첫 단계: m̂₁ = g₁, v̂₁ = g₁⊙g₁ → W₁ = W₀ − α g₁/|g₁|, 각 좌표가 α만큼 이동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α = 0.3이면 (x₁, y₁) = (−6.7, 1.7)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Adam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코드: update 메서드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86880"/>
            <a:ext cx="10566400" cy="3039418"/>
          </a:xfrm>
          <a:prstGeom prst="roundRect">
            <a:avLst>
              <a:gd name="adj" fmla="val 3343"/>
            </a:avLst>
          </a:prstGeom>
          <a:solidFill>
            <a:srgbClr val="17233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update(self, params, grads):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self.m is None: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self.m = {key: np.zeros_like(val) for key, val in params.items()}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self.v = {key: np.zeros_like(val) for key, val in params.items()}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self.k += 1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for key in params: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self.m[key] = self.beta1 * self.m[key] + (1 - self.beta1) * grads[key]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self.v[key] = self.beta2 * self.v[key] + (1 - self.beta2) * grads[key] ** 2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m_hat = self.m[key] / (1 - self.beta1 ** self.k)    </a:t>
            </a:r>
            <a:r>
              <a:rPr lang="en-US" sz="1300" dirty="0">
                <a:solidFill>
                  <a:srgbClr val="8FA3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bias correction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v_hat = self.v[key] / (1 - self.beta2 ** self.k)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0A3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params[key] -= self.lr * m_hat / (np.sqrt(v_hat) + self.eps)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5029498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__init__은 lr=0.001, beta1=0.9, beta2=0.999, eps=1e-8과 단계 수 k = 0, m = v = None을 저장한다 (optimizers_2d.py).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· 비교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6773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시작점 (−7, 2)에서 30단계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03660"/>
            <a:ext cx="6718300" cy="42545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/>
        </p:spPr>
      </p:sp>
      <p:pic>
        <p:nvPicPr>
          <p:cNvPr id="5" name="Image 0" descr="SGD, 모멘텀, AdaGrad, Adam의 30단계 경로">    </p:cNvPr>
          <p:cNvPicPr>
            <a:picLocks noChangeAspect="1"/>
          </p:cNvPicPr>
          <p:nvPr/>
        </p:nvPicPr>
        <p:blipFill>
          <a:blip r:embed="rId1"/>
          <a:srcRect l="0" r="0" t="-32" b="-32"/>
          <a:stretch/>
        </p:blipFill>
        <p:spPr>
          <a:xfrm>
            <a:off x="812800" y="1503660"/>
            <a:ext cx="6718300" cy="4254500"/>
          </a:xfrm>
          <a:prstGeom prst="roundRect">
            <a:avLst>
              <a:gd name="adj" fmla="val 179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785100" y="2409329"/>
            <a:ext cx="370192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</a:t>
            </a: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(α=0.95)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y로 지그재그, x는 느림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85100" y="3051870"/>
            <a:ext cx="370192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Momentum</a:t>
            </a: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(α=0.1, β=0.9)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크게 휘며 가속, 지나쳤다 돌아옴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85100" y="3694410"/>
            <a:ext cx="370192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AdaGrad</a:t>
            </a: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(α=1.5)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진동을 바로 잡고 바닥을 따라 곧게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85100" y="4336951"/>
            <a:ext cx="370192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</a:t>
            </a: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(α=0.3)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모멘텀처럼 휘지만 진동이 작음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· 비교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경로를 따라 계산한 f 값과 첫 두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36080"/>
            <a:ext cx="3231952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</p:sp>
      <p:pic>
        <p:nvPicPr>
          <p:cNvPr id="5" name="Image 0" descr="네 기법에서 반복 횟수에 따른 f 값의 변화, 로그 눈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246120"/>
            <a:ext cx="3231952" cy="1964421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1452" y="2269629"/>
          <a:ext cx="7067748" cy="1930053"/>
        </p:xfrm>
        <a:graphic>
          <a:graphicData uri="http://schemas.openxmlformats.org/drawingml/2006/table">
            <a:tbl>
              <a:tblPr/>
              <a:tblGrid>
                <a:gridCol w="2120325"/>
                <a:gridCol w="2473712"/>
                <a:gridCol w="247371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(x₁, y₁)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(x₂, y₂)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SGD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(−6.335, −1.8)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(−5.733, 1.62)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Momentum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(−6.93, 1.6)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(−6.798, 0.92)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AdaGrad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(−5.5, 0.5)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(−4.573, 0.136)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Adam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(−6.7, 1.7)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(−6.400, 1.402)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800" y="4898380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AdaGrad와 Adam의 첫 단계는 두 좌표가 모두 정확히 α만큼 움직인다.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963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 갱신 기법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01180"/>
          <a:ext cx="10553700" cy="2476500"/>
        </p:xfrm>
        <a:graphic>
          <a:graphicData uri="http://schemas.openxmlformats.org/drawingml/2006/table">
            <a:tbl>
              <a:tblPr/>
              <a:tblGrid>
                <a:gridCol w="1899666"/>
                <a:gridCol w="5276850"/>
                <a:gridCol w="3377184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갱신 규칙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개선한 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EE5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SGD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 ← W − α g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(기준)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Momentum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 ← βv − α g,  W ← W + v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방향: 진동 상쇄, 가속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AdaGrad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 ← h + g⊙g,  W ← W − α g/√h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보폭: 매개변수별 학습률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RMSProp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 ← ρh + (1−ρ) g⊙g,  W ← W − α g/√h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학습률이 0으로 줄지 않음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Adam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m, v의 지수이동평균 + 편향 보정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33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Momentum + RMSProp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기법이 가장 좋은가?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9633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i="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예제의 순위로 결론을 내릴 수는 없다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7758" y="1907530"/>
            <a:ext cx="10830814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결과는 함수의 모양, 시작점, 학습률 같은 hyper-parameter에 따라 크게 달라진다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딥러닝: Adam은 hyper-parameter에 덜 민감해 기본값으로 많이 쓰인다</a:t>
            </a:r>
            <a:endParaRPr lang="en-US" sz="1600" dirty="0"/>
          </a:p>
          <a:p>
            <a:pPr algn="l" marL="209042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C9D3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조정한 SGD (+ 모멘텀)가 최종 성능이 더 좋은 경우도 많다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3143151"/>
            <a:ext cx="10553700" cy="1272530"/>
          </a:xfrm>
          <a:prstGeom prst="roundRect">
            <a:avLst>
              <a:gd name="adj" fmla="val 7485"/>
            </a:avLst>
          </a:prstGeom>
          <a:noFill/>
          <a:ln w="12700">
            <a:solidFill>
              <a:srgbClr val="4A5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3352701"/>
            <a:ext cx="103339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A3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PyTorch에서는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672731"/>
            <a:ext cx="103339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torch.optim.SGD(..., momentum=0.9)  ·  torch.optim.Adagrad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torch.optim.RMSprop  ·  torch.optim.Adam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456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연습문제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93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3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손으로, 그리고 코드로 확인하기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5386" y="1837680"/>
            <a:ext cx="10823186" cy="150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1414" indent="-201414">
              <a:lnSpc>
                <a:spcPts val="23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f(x, y) = x²/20 + y²에서 SGD가 발산하지 않는 α의 범위와, 그 안에서 x가 가장 빨리 수렴하는 α를 구하라.</a:t>
            </a:r>
            <a:endParaRPr lang="en-US" sz="1500" dirty="0"/>
          </a:p>
          <a:p>
            <a:pPr algn="l" marL="201414" indent="-201414">
              <a:lnSpc>
                <a:spcPts val="23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모멘텀에서 gradient가 매 단계 g로 일정할 때 vₖ → −α g/(1−β)임을 보이라.</a:t>
            </a:r>
            <a:endParaRPr lang="en-US" sz="1500" dirty="0"/>
          </a:p>
          <a:p>
            <a:pPr algn="l" marL="201414" indent="-201414">
              <a:lnSpc>
                <a:spcPts val="23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시작점 (−7, 2)에서 AdaGrad (α = 1.5)의 두 번째 단계 (x₂, y₂)를 손으로 계산하라.</a:t>
            </a:r>
            <a:endParaRPr lang="en-US" sz="1500" dirty="0"/>
          </a:p>
          <a:p>
            <a:pPr algn="l" marL="201414" indent="-201414">
              <a:lnSpc>
                <a:spcPts val="23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Adam에서 편향 보정이 없으면 첫 단계의 이동량은 얼마인가? 보정이 왜 필요한가?</a:t>
            </a:r>
            <a:endParaRPr lang="en-US" sz="1500" dirty="0"/>
          </a:p>
          <a:p>
            <a:pPr algn="l" marL="201414" indent="-201414">
              <a:lnSpc>
                <a:spcPts val="23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E4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mnist_lab.py의 갱신 부분을 optimizer.update(network.params, grads)로 바꾸어 네 기법을 5 epoch씩 비교하라.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54265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코드: optimizers_2d.py · 강의 노트 연습문제와 같다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관련 기술 (1) · 매개변수 갱신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학습 관련 기술 (1): 매개변수 갱신">
  <a:themeElements>
    <a:clrScheme name="학습 관련 기술 (1): 매개변수 갱신">
      <a:dk1>
        <a:srgbClr val="172338"/>
      </a:dk1>
      <a:lt1>
        <a:srgbClr val="F7F6F2"/>
      </a:lt1>
      <a:dk2>
        <a:srgbClr val="4F5867"/>
      </a:dk2>
      <a:lt2>
        <a:srgbClr val="E1E1DF"/>
      </a:lt2>
      <a:accent1>
        <a:srgbClr val="B4561A"/>
      </a:accent1>
      <a:accent2>
        <a:srgbClr val="F0A35E"/>
      </a:accent2>
      <a:accent3>
        <a:srgbClr val="2B5FA6"/>
      </a:accent3>
      <a:accent4>
        <a:srgbClr val="3E4A5C"/>
      </a:accent4>
      <a:accent5>
        <a:srgbClr val="7A8494"/>
      </a:accent5>
      <a:accent6>
        <a:srgbClr val="C9D3E2"/>
      </a:accent6>
      <a:hlink>
        <a:srgbClr val="0563C1"/>
      </a:hlink>
      <a:folHlink>
        <a:srgbClr val="954F72"/>
      </a:folHlink>
    </a:clrScheme>
    <a:fontScheme name="학습 관련 기술 (1): 매개변수 갱신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학습 관련 기술 (1): 매개변수 갱신</dc:title>
  <dc:subject/>
  <dc:creator/>
  <cp:lastModifiedBy/>
  <cp:revision>1</cp:revision>
  <dcterms:created xsi:type="dcterms:W3CDTF">2026-10-09T12:01:34Z</dcterms:created>
  <dcterms:modified xsi:type="dcterms:W3CDTF">2026-10-09T12:01:34Z</dcterms:modified>
</cp:coreProperties>
</file>